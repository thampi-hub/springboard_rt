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07" d="100"/>
          <a:sy n="107" d="100"/>
        </p:scale>
        <p:origin x="1656"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datasnaek/youtube-new/dat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37949" y="1019969"/>
            <a:ext cx="4344156" cy="5389795"/>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p:cNvSpPr/>
          <p:nvPr/>
        </p:nvSpPr>
        <p:spPr>
          <a:xfrm>
            <a:off x="4587388" y="1019974"/>
            <a:ext cx="4344156" cy="5389790"/>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p:cNvSpPr/>
          <p:nvPr/>
        </p:nvSpPr>
        <p:spPr>
          <a:xfrm>
            <a:off x="218936" y="104015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p:cNvSpPr/>
          <p:nvPr/>
        </p:nvSpPr>
        <p:spPr>
          <a:xfrm>
            <a:off x="4668375" y="1055541"/>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p:cNvSpPr/>
          <p:nvPr/>
        </p:nvSpPr>
        <p:spPr>
          <a:xfrm>
            <a:off x="601195" y="1072209"/>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Context</a:t>
            </a:r>
            <a:endParaRPr sz="1400" b="0" i="0" u="none" strike="noStrike" cap="none">
              <a:solidFill>
                <a:srgbClr val="000000"/>
              </a:solidFill>
              <a:latin typeface="Arial"/>
              <a:ea typeface="Arial"/>
              <a:cs typeface="Arial"/>
              <a:sym typeface="Arial"/>
            </a:endParaRPr>
          </a:p>
        </p:txBody>
      </p:sp>
      <p:sp>
        <p:nvSpPr>
          <p:cNvPr id="25" name="Google Shape;25;p1"/>
          <p:cNvSpPr/>
          <p:nvPr/>
        </p:nvSpPr>
        <p:spPr>
          <a:xfrm>
            <a:off x="5050634" y="1087595"/>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Constraints within solution space</a:t>
            </a:r>
            <a:endParaRPr sz="1400" b="0" i="0" u="none" strike="noStrike" cap="none">
              <a:solidFill>
                <a:srgbClr val="000000"/>
              </a:solidFill>
              <a:latin typeface="Arial"/>
              <a:ea typeface="Arial"/>
              <a:cs typeface="Arial"/>
              <a:sym typeface="Arial"/>
            </a:endParaRPr>
          </a:p>
        </p:txBody>
      </p:sp>
      <p:sp>
        <p:nvSpPr>
          <p:cNvPr id="26" name="Google Shape;26;p1"/>
          <p:cNvSpPr/>
          <p:nvPr/>
        </p:nvSpPr>
        <p:spPr>
          <a:xfrm>
            <a:off x="4668375" y="2832768"/>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218936" y="2629730"/>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2</a:t>
            </a:r>
            <a:endParaRPr sz="1400" b="0" i="0" u="none" strike="noStrike" cap="none" dirty="0">
              <a:solidFill>
                <a:srgbClr val="000000"/>
              </a:solidFill>
              <a:latin typeface="Arial"/>
              <a:ea typeface="Arial"/>
              <a:cs typeface="Arial"/>
              <a:sym typeface="Arial"/>
            </a:endParaRPr>
          </a:p>
        </p:txBody>
      </p:sp>
      <p:sp>
        <p:nvSpPr>
          <p:cNvPr id="28" name="Google Shape;28;p1"/>
          <p:cNvSpPr/>
          <p:nvPr/>
        </p:nvSpPr>
        <p:spPr>
          <a:xfrm>
            <a:off x="601195" y="2671514"/>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Criteria for success</a:t>
            </a:r>
            <a:endParaRPr sz="1400" b="0" i="0" u="none" strike="noStrike" cap="none" dirty="0">
              <a:solidFill>
                <a:srgbClr val="000000"/>
              </a:solidFill>
              <a:latin typeface="Arial"/>
              <a:ea typeface="Arial"/>
              <a:cs typeface="Arial"/>
              <a:sym typeface="Arial"/>
            </a:endParaRPr>
          </a:p>
        </p:txBody>
      </p:sp>
      <p:sp>
        <p:nvSpPr>
          <p:cNvPr id="29" name="Google Shape;29;p1"/>
          <p:cNvSpPr/>
          <p:nvPr/>
        </p:nvSpPr>
        <p:spPr>
          <a:xfrm>
            <a:off x="5050634" y="2864824"/>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Stakeholders to provide key insight</a:t>
            </a:r>
            <a:endParaRPr sz="1400" b="0" i="0" u="none" strike="noStrike" cap="none">
              <a:solidFill>
                <a:srgbClr val="000000"/>
              </a:solidFill>
              <a:latin typeface="Arial"/>
              <a:ea typeface="Arial"/>
              <a:cs typeface="Arial"/>
              <a:sym typeface="Arial"/>
            </a:endParaRPr>
          </a:p>
        </p:txBody>
      </p:sp>
      <p:sp>
        <p:nvSpPr>
          <p:cNvPr id="30" name="Google Shape;30;p1"/>
          <p:cNvSpPr/>
          <p:nvPr/>
        </p:nvSpPr>
        <p:spPr>
          <a:xfrm>
            <a:off x="218936" y="491291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3</a:t>
            </a:r>
            <a:endParaRPr sz="1400" b="0" i="0" u="none" strike="noStrike" cap="none" dirty="0">
              <a:solidFill>
                <a:srgbClr val="000000"/>
              </a:solidFill>
              <a:latin typeface="Arial"/>
              <a:ea typeface="Arial"/>
              <a:cs typeface="Arial"/>
              <a:sym typeface="Arial"/>
            </a:endParaRPr>
          </a:p>
        </p:txBody>
      </p:sp>
      <p:sp>
        <p:nvSpPr>
          <p:cNvPr id="31" name="Google Shape;31;p1"/>
          <p:cNvSpPr/>
          <p:nvPr/>
        </p:nvSpPr>
        <p:spPr>
          <a:xfrm>
            <a:off x="4668375" y="500606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601195" y="4947203"/>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Scope of solution space </a:t>
            </a:r>
            <a:endParaRPr sz="1400" b="0" i="0" u="none" strike="noStrike" cap="none">
              <a:solidFill>
                <a:srgbClr val="000000"/>
              </a:solidFill>
              <a:latin typeface="Arial"/>
              <a:ea typeface="Arial"/>
              <a:cs typeface="Arial"/>
              <a:sym typeface="Arial"/>
            </a:endParaRPr>
          </a:p>
        </p:txBody>
      </p:sp>
      <p:sp>
        <p:nvSpPr>
          <p:cNvPr id="33" name="Google Shape;33;p1"/>
          <p:cNvSpPr/>
          <p:nvPr/>
        </p:nvSpPr>
        <p:spPr>
          <a:xfrm>
            <a:off x="5050634" y="503812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a:solidFill>
                  <a:schemeClr val="dk1"/>
                </a:solidFill>
              </a:rPr>
              <a:t>Key</a:t>
            </a:r>
            <a:r>
              <a:rPr lang="en-AU" sz="1428" b="0" i="0" u="none" strike="noStrike" cap="none">
                <a:solidFill>
                  <a:schemeClr val="dk1"/>
                </a:solidFill>
                <a:latin typeface="Arial"/>
                <a:ea typeface="Arial"/>
                <a:cs typeface="Arial"/>
                <a:sym typeface="Arial"/>
              </a:rPr>
              <a:t> data sources </a:t>
            </a:r>
            <a:endParaRPr sz="1400" b="0" i="0" u="none" strike="noStrike" cap="none">
              <a:solidFill>
                <a:srgbClr val="000000"/>
              </a:solidFill>
              <a:latin typeface="Arial"/>
              <a:ea typeface="Arial"/>
              <a:cs typeface="Arial"/>
              <a:sym typeface="Arial"/>
            </a:endParaRPr>
          </a:p>
        </p:txBody>
      </p:sp>
      <p:sp>
        <p:nvSpPr>
          <p:cNvPr id="34" name="Google Shape;34;p1"/>
          <p:cNvSpPr txBox="1"/>
          <p:nvPr/>
        </p:nvSpPr>
        <p:spPr>
          <a:xfrm>
            <a:off x="143108" y="1324822"/>
            <a:ext cx="4324418" cy="130499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100" dirty="0"/>
              <a:t>YouTube updates its trending list every 15min using a combination of factors such as the number of views, temperature, age of video, etc. Newer videos are often likelier to come up in the refreshed trending list. But besides that its not clear what factors keep a video popping up in the trending list repeatedly. Identifying such features in the data could bolster the success of a video (i.e. make it frequently trend).</a:t>
            </a:r>
          </a:p>
        </p:txBody>
      </p:sp>
      <p:sp>
        <p:nvSpPr>
          <p:cNvPr id="35" name="Google Shape;35;p1"/>
          <p:cNvSpPr txBox="1"/>
          <p:nvPr/>
        </p:nvSpPr>
        <p:spPr>
          <a:xfrm>
            <a:off x="143108" y="2910246"/>
            <a:ext cx="4324418" cy="16605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100" i="0" u="none" strike="noStrike" cap="none" dirty="0">
                <a:solidFill>
                  <a:srgbClr val="000000"/>
                </a:solidFill>
                <a:latin typeface="Arial"/>
                <a:ea typeface="Arial"/>
                <a:cs typeface="Arial"/>
                <a:sym typeface="Arial"/>
              </a:rPr>
              <a:t>Objective would be to model a classifier that predicts whether a trending video could pop up in YouTube’s trending list twice or higher. This could be estimated based on 1/more of the following parameters:</a:t>
            </a:r>
          </a:p>
          <a:p>
            <a:pPr marL="285750" marR="0" lvl="0" indent="-285750" algn="l" rtl="0">
              <a:lnSpc>
                <a:spcPct val="100000"/>
              </a:lnSpc>
              <a:spcBef>
                <a:spcPts val="0"/>
              </a:spcBef>
              <a:spcAft>
                <a:spcPts val="0"/>
              </a:spcAft>
              <a:buFont typeface="Arial" panose="020B0604020202020204" pitchFamily="34" charset="0"/>
              <a:buChar char="•"/>
            </a:pPr>
            <a:r>
              <a:rPr lang="en-US" sz="1100" i="0" u="none" strike="noStrike" cap="none" dirty="0">
                <a:solidFill>
                  <a:srgbClr val="000000"/>
                </a:solidFill>
                <a:latin typeface="Arial"/>
                <a:ea typeface="Arial"/>
                <a:cs typeface="Arial"/>
                <a:sym typeface="Arial"/>
              </a:rPr>
              <a:t>Viewer count</a:t>
            </a:r>
          </a:p>
          <a:p>
            <a:pPr marL="285750" marR="0" lvl="0" indent="-285750" algn="l" rtl="0">
              <a:lnSpc>
                <a:spcPct val="100000"/>
              </a:lnSpc>
              <a:spcBef>
                <a:spcPts val="0"/>
              </a:spcBef>
              <a:spcAft>
                <a:spcPts val="0"/>
              </a:spcAft>
              <a:buFont typeface="Arial" panose="020B0604020202020204" pitchFamily="34" charset="0"/>
              <a:buChar char="•"/>
            </a:pPr>
            <a:r>
              <a:rPr lang="en-IN" sz="1100" i="0" u="none" strike="noStrike" cap="none" dirty="0">
                <a:solidFill>
                  <a:srgbClr val="000000"/>
                </a:solidFill>
                <a:latin typeface="Arial"/>
                <a:ea typeface="Arial"/>
                <a:cs typeface="Arial"/>
                <a:sym typeface="Arial"/>
              </a:rPr>
              <a:t>Interactive parameters: Like, Dislikes, and Comment count</a:t>
            </a:r>
          </a:p>
          <a:p>
            <a:pPr marL="285750" marR="0" lvl="0" indent="-285750" algn="l" rtl="0">
              <a:lnSpc>
                <a:spcPct val="100000"/>
              </a:lnSpc>
              <a:spcBef>
                <a:spcPts val="0"/>
              </a:spcBef>
              <a:spcAft>
                <a:spcPts val="0"/>
              </a:spcAft>
              <a:buFont typeface="Arial" panose="020B0604020202020204" pitchFamily="34" charset="0"/>
              <a:buChar char="•"/>
            </a:pPr>
            <a:r>
              <a:rPr lang="en-IN" sz="1100" dirty="0"/>
              <a:t>Age of a video</a:t>
            </a:r>
          </a:p>
          <a:p>
            <a:pPr marL="285750" marR="0" lvl="0" indent="-285750" algn="l" rtl="0">
              <a:lnSpc>
                <a:spcPct val="100000"/>
              </a:lnSpc>
              <a:spcBef>
                <a:spcPts val="0"/>
              </a:spcBef>
              <a:spcAft>
                <a:spcPts val="0"/>
              </a:spcAft>
              <a:buFont typeface="Arial" panose="020B0604020202020204" pitchFamily="34" charset="0"/>
              <a:buChar char="•"/>
            </a:pPr>
            <a:r>
              <a:rPr lang="en-IN" sz="1100" dirty="0"/>
              <a:t>Temperature (how quickly the video generates views)</a:t>
            </a:r>
          </a:p>
          <a:p>
            <a:pPr marR="0" lvl="0" algn="l" rtl="0">
              <a:lnSpc>
                <a:spcPct val="100000"/>
              </a:lnSpc>
              <a:spcBef>
                <a:spcPts val="600"/>
              </a:spcBef>
              <a:spcAft>
                <a:spcPts val="0"/>
              </a:spcAft>
            </a:pPr>
            <a:r>
              <a:rPr lang="en-IN" sz="1100" i="0" u="none" strike="noStrike" cap="none" dirty="0">
                <a:solidFill>
                  <a:srgbClr val="000000"/>
                </a:solidFill>
                <a:latin typeface="Arial"/>
                <a:ea typeface="Arial"/>
                <a:cs typeface="Arial"/>
                <a:sym typeface="Arial"/>
              </a:rPr>
              <a:t>Aim is to complete capstone in 2 weeks from start of analysis.</a:t>
            </a:r>
            <a:endParaRPr sz="1100" i="0" u="none" strike="noStrike" cap="none" dirty="0">
              <a:solidFill>
                <a:srgbClr val="000000"/>
              </a:solidFill>
              <a:latin typeface="Arial"/>
              <a:ea typeface="Arial"/>
              <a:cs typeface="Arial"/>
              <a:sym typeface="Arial"/>
            </a:endParaRPr>
          </a:p>
        </p:txBody>
      </p:sp>
      <p:sp>
        <p:nvSpPr>
          <p:cNvPr id="36" name="Google Shape;36;p1"/>
          <p:cNvSpPr txBox="1"/>
          <p:nvPr/>
        </p:nvSpPr>
        <p:spPr>
          <a:xfrm>
            <a:off x="186842" y="5163844"/>
            <a:ext cx="4324418" cy="98697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100" b="0" i="0" u="none" strike="noStrike" cap="none" dirty="0">
                <a:solidFill>
                  <a:srgbClr val="000000"/>
                </a:solidFill>
                <a:latin typeface="Arial"/>
                <a:ea typeface="Arial"/>
                <a:cs typeface="Arial"/>
                <a:sym typeface="Arial"/>
              </a:rPr>
              <a:t>This analysis will primarily be restricted to the measurable parameters which is in the control of a YouTuber. Since trending is selected based on appeal, relevance and content that </a:t>
            </a:r>
            <a:r>
              <a:rPr lang="en-US" sz="1100" dirty="0"/>
              <a:t>c</a:t>
            </a:r>
            <a:r>
              <a:rPr lang="en-US" sz="1100" b="0" i="0" u="none" strike="noStrike" cap="none" dirty="0">
                <a:solidFill>
                  <a:srgbClr val="000000"/>
                </a:solidFill>
                <a:latin typeface="Arial"/>
                <a:ea typeface="Arial"/>
                <a:cs typeface="Arial"/>
                <a:sym typeface="Arial"/>
              </a:rPr>
              <a:t>apture the breadth of what’s happening across the world, multi-country data is used for analysis (and not country specific).</a:t>
            </a:r>
          </a:p>
        </p:txBody>
      </p:sp>
      <p:sp>
        <p:nvSpPr>
          <p:cNvPr id="37" name="Google Shape;37;p1"/>
          <p:cNvSpPr txBox="1"/>
          <p:nvPr/>
        </p:nvSpPr>
        <p:spPr>
          <a:xfrm>
            <a:off x="4558232" y="1401333"/>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070" i="0" u="none" strike="noStrike" cap="none" dirty="0">
                <a:solidFill>
                  <a:srgbClr val="000000"/>
                </a:solidFill>
                <a:latin typeface="Arial"/>
                <a:ea typeface="Arial"/>
                <a:cs typeface="Arial"/>
                <a:sym typeface="Arial"/>
              </a:rPr>
              <a:t>Data is available for many regions; thus, video title is not necessarily restricted to a single language. </a:t>
            </a:r>
            <a:endParaRPr sz="1070" i="0" u="none" strike="noStrike" cap="none" dirty="0">
              <a:solidFill>
                <a:srgbClr val="000000"/>
              </a:solidFill>
              <a:latin typeface="Arial"/>
              <a:ea typeface="Arial"/>
              <a:cs typeface="Arial"/>
              <a:sym typeface="Arial"/>
            </a:endParaRPr>
          </a:p>
        </p:txBody>
      </p:sp>
      <p:sp>
        <p:nvSpPr>
          <p:cNvPr id="38" name="Google Shape;38;p1"/>
          <p:cNvSpPr txBox="1"/>
          <p:nvPr/>
        </p:nvSpPr>
        <p:spPr>
          <a:xfrm>
            <a:off x="4590928" y="5293555"/>
            <a:ext cx="4324418" cy="1081065"/>
          </a:xfrm>
          <a:prstGeom prst="rect">
            <a:avLst/>
          </a:prstGeom>
          <a:noFill/>
          <a:ln>
            <a:noFill/>
          </a:ln>
        </p:spPr>
        <p:txBody>
          <a:bodyPr spcFirstLastPara="1" wrap="square" lIns="91425" tIns="45700" rIns="91425" bIns="45700" anchor="t" anchorCtr="0">
            <a:noAutofit/>
          </a:bodyPr>
          <a:lstStyle/>
          <a:p>
            <a:r>
              <a:rPr lang="en-US" sz="1070" i="0" u="none" strike="noStrike" cap="none" dirty="0">
                <a:solidFill>
                  <a:srgbClr val="000000"/>
                </a:solidFill>
                <a:latin typeface="Arial"/>
                <a:ea typeface="Arial"/>
                <a:cs typeface="Arial"/>
                <a:sym typeface="Arial"/>
              </a:rPr>
              <a:t>Kaggle: </a:t>
            </a:r>
            <a:r>
              <a:rPr lang="en-US" sz="1400" i="0" dirty="0">
                <a:solidFill>
                  <a:schemeClr val="tx1">
                    <a:lumMod val="75000"/>
                    <a:lumOff val="25000"/>
                  </a:schemeClr>
                </a:solidFill>
                <a:effectLst/>
                <a:latin typeface="zeitung"/>
                <a:hlinkClick r:id="rId3">
                  <a:extLst>
                    <a:ext uri="{A12FA001-AC4F-418D-AE19-62706E023703}">
                      <ahyp:hlinkClr xmlns:ahyp="http://schemas.microsoft.com/office/drawing/2018/hyperlinkcolor" val="tx"/>
                    </a:ext>
                  </a:extLst>
                </a:hlinkClick>
              </a:rPr>
              <a:t>Trending YouTube Video Statistics</a:t>
            </a:r>
            <a:endParaRPr lang="en-US" sz="1400" i="0" dirty="0">
              <a:solidFill>
                <a:schemeClr val="tx1">
                  <a:lumMod val="75000"/>
                  <a:lumOff val="25000"/>
                </a:schemeClr>
              </a:solidFill>
              <a:effectLst/>
              <a:latin typeface="zeitung"/>
            </a:endParaRPr>
          </a:p>
          <a:p>
            <a:pPr marL="0" marR="0" lvl="0" indent="0" algn="l" rtl="0">
              <a:lnSpc>
                <a:spcPct val="100000"/>
              </a:lnSpc>
              <a:spcBef>
                <a:spcPts val="0"/>
              </a:spcBef>
              <a:spcAft>
                <a:spcPts val="0"/>
              </a:spcAft>
              <a:buNone/>
            </a:pPr>
            <a:endParaRPr sz="1070" i="0" u="none" strike="noStrike" cap="none" dirty="0">
              <a:solidFill>
                <a:srgbClr val="000000"/>
              </a:solidFill>
              <a:latin typeface="Arial"/>
              <a:ea typeface="Arial"/>
              <a:cs typeface="Arial"/>
              <a:sym typeface="Arial"/>
            </a:endParaRPr>
          </a:p>
        </p:txBody>
      </p:sp>
      <p:sp>
        <p:nvSpPr>
          <p:cNvPr id="44" name="Google Shape;44;p1"/>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5" name="Google Shape;45;p1"/>
          <p:cNvSpPr/>
          <p:nvPr/>
        </p:nvSpPr>
        <p:spPr>
          <a:xfrm>
            <a:off x="121750" y="116632"/>
            <a:ext cx="8647038" cy="859808"/>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dirty="0">
                <a:solidFill>
                  <a:srgbClr val="29748D"/>
                </a:solidFill>
                <a:latin typeface="Quattrocento Sans"/>
                <a:ea typeface="Quattrocento Sans"/>
                <a:cs typeface="Quattrocento Sans"/>
                <a:sym typeface="Quattrocento Sans"/>
              </a:rPr>
              <a:t>Problem Statement Worksheet (Hypothesis Formation)</a:t>
            </a:r>
            <a:endParaRPr dirty="0"/>
          </a:p>
        </p:txBody>
      </p:sp>
      <p:sp>
        <p:nvSpPr>
          <p:cNvPr id="47" name="Google Shape;47;p1"/>
          <p:cNvSpPr txBox="1"/>
          <p:nvPr/>
        </p:nvSpPr>
        <p:spPr>
          <a:xfrm>
            <a:off x="4607126" y="3173272"/>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1" b="0" i="1" u="none" strike="noStrike" cap="none" dirty="0">
                <a:solidFill>
                  <a:srgbClr val="000000"/>
                </a:solidFill>
                <a:latin typeface="Arial"/>
                <a:ea typeface="Arial"/>
                <a:cs typeface="Arial"/>
                <a:sym typeface="Arial"/>
              </a:rPr>
              <a:t>YouTube Content creators </a:t>
            </a:r>
            <a:r>
              <a:rPr lang="en-AU" sz="1071" b="0" u="none" strike="noStrike" cap="none" dirty="0">
                <a:solidFill>
                  <a:srgbClr val="000000"/>
                </a:solidFill>
                <a:latin typeface="Arial"/>
                <a:ea typeface="Arial"/>
                <a:cs typeface="Arial"/>
                <a:sym typeface="Arial"/>
              </a:rPr>
              <a:t>&amp; </a:t>
            </a:r>
            <a:r>
              <a:rPr lang="en-AU" sz="1071" b="0" i="1" u="none" strike="noStrike" cap="none" dirty="0">
                <a:solidFill>
                  <a:srgbClr val="000000"/>
                </a:solidFill>
                <a:latin typeface="Arial"/>
                <a:ea typeface="Arial"/>
                <a:cs typeface="Arial"/>
                <a:sym typeface="Arial"/>
              </a:rPr>
              <a:t>Marketing experts </a:t>
            </a:r>
            <a:r>
              <a:rPr lang="en-AU" sz="1071" b="0" u="none" strike="noStrike" cap="none" dirty="0">
                <a:solidFill>
                  <a:srgbClr val="000000"/>
                </a:solidFill>
                <a:latin typeface="Arial"/>
                <a:ea typeface="Arial"/>
                <a:cs typeface="Arial"/>
                <a:sym typeface="Arial"/>
              </a:rPr>
              <a:t>can benefit the most from this analysis.</a:t>
            </a:r>
            <a:endParaRPr sz="1400" b="0" u="none" strike="noStrike" cap="none" dirty="0">
              <a:solidFill>
                <a:srgbClr val="000000"/>
              </a:solidFill>
              <a:latin typeface="Arial"/>
              <a:ea typeface="Arial"/>
              <a:cs typeface="Arial"/>
              <a:sym typeface="Arial"/>
            </a:endParaRPr>
          </a:p>
        </p:txBody>
      </p:sp>
      <p:sp>
        <p:nvSpPr>
          <p:cNvPr id="48" name="Google Shape;48;p1"/>
          <p:cNvSpPr txBox="1"/>
          <p:nvPr/>
        </p:nvSpPr>
        <p:spPr>
          <a:xfrm>
            <a:off x="184140" y="540901"/>
            <a:ext cx="8584648"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Predicting Videos That Stay Trending: A Closer Look At YouTube’s Frequently Trending Content</a:t>
            </a:r>
            <a:endParaRPr sz="1400" b="1"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594</TotalTime>
  <Words>301</Words>
  <Application>Microsoft Office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Quattrocento Sans</vt:lpstr>
      <vt:lpstr>zeitung</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R Thampi</cp:lastModifiedBy>
  <cp:revision>12</cp:revision>
  <dcterms:modified xsi:type="dcterms:W3CDTF">2025-03-05T02:04:41Z</dcterms:modified>
</cp:coreProperties>
</file>