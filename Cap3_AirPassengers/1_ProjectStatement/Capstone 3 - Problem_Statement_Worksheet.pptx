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7"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07" d="100"/>
          <a:sy n="107" d="100"/>
        </p:scale>
        <p:origin x="165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2038936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rakannimer/air-passenger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327031"/>
            <a:ext cx="4344156" cy="508273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327036"/>
            <a:ext cx="4344156" cy="5082728"/>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327031"/>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34241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359085"/>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Context</a:t>
            </a: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5050634" y="137447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Constraints within solution space</a:t>
            </a: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4668375" y="3119644"/>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18936" y="291660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2</a:t>
            </a:r>
            <a:endParaRPr sz="1400" b="0" i="0" u="none" strike="noStrike" cap="none" dirty="0">
              <a:solidFill>
                <a:srgbClr val="000000"/>
              </a:solidFill>
              <a:latin typeface="Arial"/>
              <a:ea typeface="Arial"/>
              <a:cs typeface="Arial"/>
              <a:sym typeface="Arial"/>
            </a:endParaRPr>
          </a:p>
        </p:txBody>
      </p:sp>
      <p:sp>
        <p:nvSpPr>
          <p:cNvPr id="28" name="Google Shape;28;p1"/>
          <p:cNvSpPr/>
          <p:nvPr/>
        </p:nvSpPr>
        <p:spPr>
          <a:xfrm>
            <a:off x="601195" y="2958390"/>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Criteria for success</a:t>
            </a:r>
            <a:endParaRPr sz="1400" b="0" i="0" u="none" strike="noStrike" cap="none" dirty="0">
              <a:solidFill>
                <a:srgbClr val="000000"/>
              </a:solidFill>
              <a:latin typeface="Arial"/>
              <a:ea typeface="Arial"/>
              <a:cs typeface="Arial"/>
              <a:sym typeface="Arial"/>
            </a:endParaRPr>
          </a:p>
        </p:txBody>
      </p:sp>
      <p:sp>
        <p:nvSpPr>
          <p:cNvPr id="29" name="Google Shape;29;p1"/>
          <p:cNvSpPr/>
          <p:nvPr/>
        </p:nvSpPr>
        <p:spPr>
          <a:xfrm>
            <a:off x="5050634" y="3151700"/>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Stakeholders to provide key insight</a:t>
            </a: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218936" y="491291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3</a:t>
            </a:r>
            <a:endParaRPr sz="1400" b="0" i="0" u="none" strike="noStrike" cap="none" dirty="0">
              <a:solidFill>
                <a:srgbClr val="000000"/>
              </a:solidFill>
              <a:latin typeface="Arial"/>
              <a:ea typeface="Arial"/>
              <a:cs typeface="Arial"/>
              <a:sym typeface="Arial"/>
            </a:endParaRPr>
          </a:p>
        </p:txBody>
      </p:sp>
      <p:sp>
        <p:nvSpPr>
          <p:cNvPr id="31" name="Google Shape;31;p1"/>
          <p:cNvSpPr/>
          <p:nvPr/>
        </p:nvSpPr>
        <p:spPr>
          <a:xfrm>
            <a:off x="4668375" y="500606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947203"/>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Scope of solution space </a:t>
            </a:r>
            <a:endParaRPr sz="1400" b="0" i="0" u="none" strike="noStrike" cap="none" dirty="0">
              <a:solidFill>
                <a:srgbClr val="000000"/>
              </a:solidFill>
              <a:latin typeface="Arial"/>
              <a:ea typeface="Arial"/>
              <a:cs typeface="Arial"/>
              <a:sym typeface="Arial"/>
            </a:endParaRPr>
          </a:p>
        </p:txBody>
      </p:sp>
      <p:sp>
        <p:nvSpPr>
          <p:cNvPr id="33" name="Google Shape;33;p1"/>
          <p:cNvSpPr/>
          <p:nvPr/>
        </p:nvSpPr>
        <p:spPr>
          <a:xfrm>
            <a:off x="5050634" y="503812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a:solidFill>
                  <a:schemeClr val="dk1"/>
                </a:solidFill>
              </a:rPr>
              <a:t>Key</a:t>
            </a:r>
            <a:r>
              <a:rPr lang="en-AU" sz="1428" b="0" i="0" u="none" strike="noStrike" cap="none">
                <a:solidFill>
                  <a:schemeClr val="dk1"/>
                </a:solidFill>
                <a:latin typeface="Arial"/>
                <a:ea typeface="Arial"/>
                <a:cs typeface="Arial"/>
                <a:sym typeface="Arial"/>
              </a:rPr>
              <a:t> data sources </a:t>
            </a:r>
            <a:endParaRPr sz="1400" b="0" i="0" u="none" strike="noStrike" cap="none">
              <a:solidFill>
                <a:srgbClr val="000000"/>
              </a:solidFill>
              <a:latin typeface="Arial"/>
              <a:ea typeface="Arial"/>
              <a:cs typeface="Arial"/>
              <a:sym typeface="Arial"/>
            </a:endParaRPr>
          </a:p>
        </p:txBody>
      </p:sp>
      <p:sp>
        <p:nvSpPr>
          <p:cNvPr id="34" name="Google Shape;34;p1"/>
          <p:cNvSpPr txBox="1"/>
          <p:nvPr/>
        </p:nvSpPr>
        <p:spPr>
          <a:xfrm>
            <a:off x="143108" y="1611698"/>
            <a:ext cx="4324418" cy="130499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dirty="0"/>
              <a:t>With growing popularity of air travel in the late 1900s, a key problem for the airline industry was to understand the exponential demand in the future. The Air Passengers dataset provides historical data of the number of travelers over time, without any rationale for the changing trends, making it a challenge to accurately predict the same for the future.</a:t>
            </a:r>
          </a:p>
          <a:p>
            <a:pPr marL="0" marR="0" lvl="0" indent="0" algn="l" rtl="0">
              <a:lnSpc>
                <a:spcPct val="100000"/>
              </a:lnSpc>
              <a:spcBef>
                <a:spcPts val="0"/>
              </a:spcBef>
              <a:spcAft>
                <a:spcPts val="0"/>
              </a:spcAft>
              <a:buNone/>
            </a:pPr>
            <a:endParaRPr lang="en-US" sz="1100" dirty="0"/>
          </a:p>
        </p:txBody>
      </p:sp>
      <p:sp>
        <p:nvSpPr>
          <p:cNvPr id="35" name="Google Shape;35;p1"/>
          <p:cNvSpPr txBox="1"/>
          <p:nvPr/>
        </p:nvSpPr>
        <p:spPr>
          <a:xfrm>
            <a:off x="143108" y="3197122"/>
            <a:ext cx="4324418" cy="16605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i="0" u="none" strike="noStrike" cap="none" dirty="0">
                <a:solidFill>
                  <a:srgbClr val="000000"/>
                </a:solidFill>
                <a:latin typeface="Arial"/>
                <a:ea typeface="Arial"/>
                <a:cs typeface="Arial"/>
                <a:sym typeface="Arial"/>
              </a:rPr>
              <a:t>Create a model to accurately predict the number of passengers for a future period, </a:t>
            </a:r>
            <a:r>
              <a:rPr lang="en-US" sz="1100" dirty="0"/>
              <a:t>based on historical data from 1940s to 1960s. </a:t>
            </a:r>
          </a:p>
          <a:p>
            <a:pPr marL="0" marR="0" lvl="0" indent="0" algn="l" rtl="0">
              <a:lnSpc>
                <a:spcPct val="100000"/>
              </a:lnSpc>
              <a:spcBef>
                <a:spcPts val="0"/>
              </a:spcBef>
              <a:spcAft>
                <a:spcPts val="0"/>
              </a:spcAft>
              <a:buNone/>
            </a:pPr>
            <a:endParaRPr lang="en-US" sz="1100" dirty="0"/>
          </a:p>
          <a:p>
            <a:pPr marL="0" marR="0" lvl="0" indent="0" algn="l" rtl="0">
              <a:lnSpc>
                <a:spcPct val="100000"/>
              </a:lnSpc>
              <a:spcBef>
                <a:spcPts val="0"/>
              </a:spcBef>
              <a:spcAft>
                <a:spcPts val="0"/>
              </a:spcAft>
              <a:buNone/>
            </a:pPr>
            <a:r>
              <a:rPr lang="en-US" sz="1100" dirty="0"/>
              <a:t>Find the best time series model for forecasting and tune it for best performance without overfitting.</a:t>
            </a:r>
          </a:p>
          <a:p>
            <a:pPr marL="0" marR="0" lvl="0" indent="0" algn="l" rtl="0">
              <a:lnSpc>
                <a:spcPct val="100000"/>
              </a:lnSpc>
              <a:spcBef>
                <a:spcPts val="0"/>
              </a:spcBef>
              <a:spcAft>
                <a:spcPts val="0"/>
              </a:spcAft>
              <a:buNone/>
            </a:pPr>
            <a:endParaRPr lang="en-US" sz="1100" dirty="0"/>
          </a:p>
          <a:p>
            <a:r>
              <a:rPr lang="en-US" sz="1100" i="0" u="none" strike="noStrike" cap="none" dirty="0">
                <a:solidFill>
                  <a:srgbClr val="000000"/>
                </a:solidFill>
                <a:latin typeface="Arial"/>
                <a:ea typeface="Arial"/>
                <a:cs typeface="Arial"/>
                <a:sym typeface="Arial"/>
              </a:rPr>
              <a:t>Aim is to complete capstone in 3 weeks from start of analysis.</a:t>
            </a:r>
          </a:p>
          <a:p>
            <a:pPr marL="0" marR="0" lvl="0" indent="0" algn="l" rtl="0">
              <a:lnSpc>
                <a:spcPct val="100000"/>
              </a:lnSpc>
              <a:spcBef>
                <a:spcPts val="0"/>
              </a:spcBef>
              <a:spcAft>
                <a:spcPts val="0"/>
              </a:spcAft>
              <a:buNone/>
            </a:pPr>
            <a:endParaRPr sz="1100" i="0" u="none" strike="noStrike" cap="none" dirty="0">
              <a:solidFill>
                <a:srgbClr val="000000"/>
              </a:solidFill>
              <a:latin typeface="Arial"/>
              <a:ea typeface="Arial"/>
              <a:cs typeface="Arial"/>
              <a:sym typeface="Arial"/>
            </a:endParaRPr>
          </a:p>
        </p:txBody>
      </p:sp>
      <p:sp>
        <p:nvSpPr>
          <p:cNvPr id="36" name="Google Shape;36;p1"/>
          <p:cNvSpPr txBox="1"/>
          <p:nvPr/>
        </p:nvSpPr>
        <p:spPr>
          <a:xfrm>
            <a:off x="186842" y="5163844"/>
            <a:ext cx="4324418" cy="98697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100" b="0" i="0" u="none" strike="noStrike" cap="none" dirty="0">
                <a:solidFill>
                  <a:srgbClr val="000000"/>
                </a:solidFill>
                <a:latin typeface="Arial"/>
                <a:ea typeface="Arial"/>
                <a:cs typeface="Arial"/>
                <a:sym typeface="Arial"/>
              </a:rPr>
              <a:t>The data consists of a single feature - the time variable, along with the target variable - the number of passengers. </a:t>
            </a:r>
          </a:p>
        </p:txBody>
      </p:sp>
      <p:sp>
        <p:nvSpPr>
          <p:cNvPr id="37" name="Google Shape;37;p1"/>
          <p:cNvSpPr txBox="1"/>
          <p:nvPr/>
        </p:nvSpPr>
        <p:spPr>
          <a:xfrm>
            <a:off x="4558232" y="1688209"/>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070" dirty="0"/>
              <a:t>In an ideal setting, the data would contain features such as the different numbers per airlines, number of flights per timepoint, demand based on seasons/occasions, etc. They would have helped to explain the changing trends in the data and could have been used to accurately predict the number of passengers at any given point in time.</a:t>
            </a:r>
            <a:endParaRPr sz="1070" i="0" u="none" strike="noStrike" cap="none" dirty="0">
              <a:solidFill>
                <a:srgbClr val="000000"/>
              </a:solidFill>
              <a:latin typeface="Arial"/>
              <a:ea typeface="Arial"/>
              <a:cs typeface="Arial"/>
              <a:sym typeface="Arial"/>
            </a:endParaRPr>
          </a:p>
        </p:txBody>
      </p:sp>
      <p:sp>
        <p:nvSpPr>
          <p:cNvPr id="38" name="Google Shape;38;p1"/>
          <p:cNvSpPr txBox="1"/>
          <p:nvPr/>
        </p:nvSpPr>
        <p:spPr>
          <a:xfrm>
            <a:off x="4590928" y="5293555"/>
            <a:ext cx="4324418" cy="1081065"/>
          </a:xfrm>
          <a:prstGeom prst="rect">
            <a:avLst/>
          </a:prstGeom>
          <a:noFill/>
          <a:ln>
            <a:noFill/>
          </a:ln>
        </p:spPr>
        <p:txBody>
          <a:bodyPr spcFirstLastPara="1" wrap="square" lIns="91425" tIns="45700" rIns="91425" bIns="45700" anchor="t" anchorCtr="0">
            <a:noAutofit/>
          </a:bodyPr>
          <a:lstStyle/>
          <a:p>
            <a:r>
              <a:rPr lang="en-US" sz="1070" i="0" u="none" strike="noStrike" cap="none" dirty="0">
                <a:solidFill>
                  <a:srgbClr val="000000"/>
                </a:solidFill>
                <a:latin typeface="Arial"/>
                <a:ea typeface="Arial"/>
                <a:cs typeface="Arial"/>
                <a:sym typeface="Arial"/>
              </a:rPr>
              <a:t>Kaggle: </a:t>
            </a:r>
            <a:r>
              <a:rPr lang="en-US" sz="1070" i="0" u="none" strike="noStrike" cap="none" dirty="0">
                <a:solidFill>
                  <a:srgbClr val="000000"/>
                </a:solidFill>
                <a:latin typeface="Arial"/>
                <a:ea typeface="Arial"/>
                <a:cs typeface="Arial"/>
                <a:sym typeface="Arial"/>
                <a:hlinkClick r:id="rId3"/>
              </a:rPr>
              <a:t>Air passengers</a:t>
            </a:r>
            <a:endParaRPr sz="1070" i="0" u="none" strike="noStrike" cap="none" dirty="0">
              <a:solidFill>
                <a:srgbClr val="000000"/>
              </a:solidFill>
              <a:latin typeface="Arial"/>
              <a:ea typeface="Arial"/>
              <a:cs typeface="Aria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p:cNvSpPr/>
          <p:nvPr/>
        </p:nvSpPr>
        <p:spPr>
          <a:xfrm>
            <a:off x="121750" y="116632"/>
            <a:ext cx="8647038" cy="1141540"/>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Quattrocento Sans"/>
                <a:sym typeface="Quattrocento Sans"/>
              </a:rPr>
              <a:t>Problem Statement Worksheet (Hypothesis Formation)</a:t>
            </a:r>
            <a:endParaRPr dirty="0"/>
          </a:p>
        </p:txBody>
      </p:sp>
      <p:sp>
        <p:nvSpPr>
          <p:cNvPr id="47" name="Google Shape;47;p1"/>
          <p:cNvSpPr txBox="1"/>
          <p:nvPr/>
        </p:nvSpPr>
        <p:spPr>
          <a:xfrm>
            <a:off x="4607126" y="3460148"/>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0" u="none" strike="noStrike" cap="none" dirty="0">
                <a:solidFill>
                  <a:srgbClr val="000000"/>
                </a:solidFill>
                <a:latin typeface="Arial"/>
                <a:ea typeface="Arial"/>
                <a:cs typeface="Arial"/>
                <a:sym typeface="Arial"/>
              </a:rPr>
              <a:t>Different departments of airlines companies could benefit from this analysis – such as logistics to help with planning for demand, marketing &amp; advertising to understand causes of off-season periods and how to entice travel in those periods. This data is also key for passengers themselves for optimizing their travel plans.</a:t>
            </a:r>
            <a:endParaRPr sz="1400" b="0" u="none" strike="noStrike" cap="none" dirty="0">
              <a:solidFill>
                <a:srgbClr val="000000"/>
              </a:solidFill>
              <a:latin typeface="Arial"/>
              <a:ea typeface="Arial"/>
              <a:cs typeface="Arial"/>
              <a:sym typeface="Arial"/>
            </a:endParaRPr>
          </a:p>
        </p:txBody>
      </p:sp>
      <p:sp>
        <p:nvSpPr>
          <p:cNvPr id="48" name="Google Shape;48;p1"/>
          <p:cNvSpPr txBox="1"/>
          <p:nvPr/>
        </p:nvSpPr>
        <p:spPr>
          <a:xfrm>
            <a:off x="184140" y="514006"/>
            <a:ext cx="8584648" cy="70880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Forecast the number of airline passengers based on month-wise historical data from 1940-1960 (the sole feature in data), using an optimal time series model selected on the basis of minimal RMSE (at least &lt;30), within 3 weeks from start of analysis.</a:t>
            </a:r>
            <a:endParaRPr b="1"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003005825"/>
      </p:ext>
    </p:extLst>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683</TotalTime>
  <Words>344</Words>
  <Application>Microsoft Office PowerPoint</Application>
  <PresentationFormat>On-screen Show (4:3)</PresentationFormat>
  <Paragraphs>26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R Thampi</cp:lastModifiedBy>
  <cp:revision>16</cp:revision>
  <dcterms:modified xsi:type="dcterms:W3CDTF">2025-05-29T06:37:29Z</dcterms:modified>
</cp:coreProperties>
</file>