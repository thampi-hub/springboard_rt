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7" roundtripDataSignature="AMtx7mjdo7FECp685JsX7/4pIVeoAktjN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060" y="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7" Type="http://customschemas.google.com/relationships/presentationmetadata" Target="meta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ableStyles" Target="tableStyles.xml"/><Relationship Id="rId10" Type="http://schemas.openxmlformats.org/officeDocument/2006/relationships/theme" Target="theme/theme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A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:notes"/>
          <p:cNvSpPr txBox="1">
            <a:spLocks noGrp="1"/>
          </p:cNvSpPr>
          <p:nvPr>
            <p:ph type="sldNum" idx="12"/>
          </p:nvPr>
        </p:nvSpPr>
        <p:spPr>
          <a:xfrm>
            <a:off x="6042320" y="9493393"/>
            <a:ext cx="169918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fld id="{00000000-1234-1234-1234-123412341234}" type="slidenum">
              <a:rPr lang="en-AU" sz="1800" b="0" i="0" u="none" strike="noStrike" cap="none">
                <a:solidFill>
                  <a:srgbClr val="000000"/>
                </a:solidFill>
              </a:rPr>
              <a:t>1</a:t>
            </a:fld>
            <a:endParaRPr sz="1800" b="0" i="0" u="none" strike="noStrike" cap="none">
              <a:solidFill>
                <a:srgbClr val="000000"/>
              </a:solidFill>
            </a:endParaRPr>
          </a:p>
        </p:txBody>
      </p:sp>
      <p:sp>
        <p:nvSpPr>
          <p:cNvPr id="17" name="Google Shape;1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319338" y="1265238"/>
            <a:ext cx="11201401" cy="84010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" name="Google Shape;18;p1:notes"/>
          <p:cNvSpPr txBox="1">
            <a:spLocks noGrp="1"/>
          </p:cNvSpPr>
          <p:nvPr>
            <p:ph type="body" idx="1"/>
          </p:nvPr>
        </p:nvSpPr>
        <p:spPr>
          <a:xfrm>
            <a:off x="789535" y="605318"/>
            <a:ext cx="5470797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b="1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174945" y="234863"/>
            <a:ext cx="8794113" cy="298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298444" y="37255"/>
            <a:ext cx="670614" cy="12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6"/>
              <a:buFont typeface="Arial"/>
              <a:buNone/>
            </a:pPr>
            <a:endParaRPr sz="81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2343099" y="2570857"/>
            <a:ext cx="4389768" cy="125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63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814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40"/>
              <a:buFont typeface="Arial"/>
              <a:buChar char="▪"/>
              <a:defRPr sz="163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293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58"/>
              <a:buFont typeface="Arial"/>
              <a:buChar char="–"/>
              <a:defRPr sz="163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293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58"/>
              <a:buFont typeface="Arial"/>
              <a:buChar char="▫"/>
              <a:defRPr sz="163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2080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52"/>
              <a:buFont typeface="Arial"/>
              <a:buChar char="-"/>
              <a:defRPr sz="163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080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52"/>
              <a:buFont typeface="Arial"/>
              <a:buChar char="-"/>
              <a:defRPr sz="163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2080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52"/>
              <a:buFont typeface="Arial"/>
              <a:buChar char="-"/>
              <a:defRPr sz="163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2080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52"/>
              <a:buFont typeface="Arial"/>
              <a:buChar char="-"/>
              <a:defRPr sz="163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2080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52"/>
              <a:buFont typeface="Arial"/>
              <a:buChar char="-"/>
              <a:defRPr sz="163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174945" y="234863"/>
            <a:ext cx="8794113" cy="298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3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39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39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39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39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39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39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39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39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datasnaek/youtube-new/data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"/>
          <p:cNvSpPr/>
          <p:nvPr/>
        </p:nvSpPr>
        <p:spPr>
          <a:xfrm>
            <a:off x="137949" y="1019970"/>
            <a:ext cx="4344156" cy="492363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endParaRPr sz="1428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87388" y="1019974"/>
            <a:ext cx="4344156" cy="4923626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endParaRPr sz="1428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218936" y="1040155"/>
            <a:ext cx="288315" cy="288315"/>
          </a:xfrm>
          <a:prstGeom prst="rect">
            <a:avLst/>
          </a:prstGeom>
          <a:solidFill>
            <a:srgbClr val="F1A205"/>
          </a:solidFill>
          <a:ln>
            <a:noFill/>
          </a:ln>
        </p:spPr>
        <p:txBody>
          <a:bodyPr spcFirstLastPara="1" wrap="square" lIns="47575" tIns="47575" rIns="47575" bIns="47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28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4668375" y="1333449"/>
            <a:ext cx="288315" cy="288315"/>
          </a:xfrm>
          <a:prstGeom prst="rect">
            <a:avLst/>
          </a:prstGeom>
          <a:solidFill>
            <a:srgbClr val="F1A205"/>
          </a:solidFill>
          <a:ln>
            <a:noFill/>
          </a:ln>
        </p:spPr>
        <p:txBody>
          <a:bodyPr spcFirstLastPara="1" wrap="square" lIns="47575" tIns="47575" rIns="47575" bIns="47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601195" y="1072209"/>
            <a:ext cx="3597454" cy="224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Context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5050634" y="1365503"/>
            <a:ext cx="3597454" cy="224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Constraints within solution space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4668375" y="2922418"/>
            <a:ext cx="288315" cy="288315"/>
          </a:xfrm>
          <a:prstGeom prst="rect">
            <a:avLst/>
          </a:prstGeom>
          <a:solidFill>
            <a:srgbClr val="F1A205"/>
          </a:solidFill>
          <a:ln>
            <a:noFill/>
          </a:ln>
        </p:spPr>
        <p:txBody>
          <a:bodyPr spcFirstLastPara="1" wrap="square" lIns="47575" tIns="47575" rIns="47575" bIns="47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218936" y="2764389"/>
            <a:ext cx="288315" cy="288315"/>
          </a:xfrm>
          <a:prstGeom prst="rect">
            <a:avLst/>
          </a:prstGeom>
          <a:solidFill>
            <a:srgbClr val="F1A205"/>
          </a:solidFill>
          <a:ln>
            <a:noFill/>
          </a:ln>
        </p:spPr>
        <p:txBody>
          <a:bodyPr spcFirstLastPara="1" wrap="square" lIns="47575" tIns="47575" rIns="47575" bIns="47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601195" y="2796445"/>
            <a:ext cx="3597454" cy="224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Criteria for success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5050634" y="2954474"/>
            <a:ext cx="3597454" cy="224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Stakeholders to provide key insight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218936" y="4750405"/>
            <a:ext cx="288315" cy="288315"/>
          </a:xfrm>
          <a:prstGeom prst="rect">
            <a:avLst/>
          </a:prstGeom>
          <a:solidFill>
            <a:srgbClr val="F1A205"/>
          </a:solidFill>
          <a:ln>
            <a:noFill/>
          </a:ln>
        </p:spPr>
        <p:txBody>
          <a:bodyPr spcFirstLastPara="1" wrap="square" lIns="47575" tIns="47575" rIns="47575" bIns="47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668375" y="4513007"/>
            <a:ext cx="288315" cy="288315"/>
          </a:xfrm>
          <a:prstGeom prst="rect">
            <a:avLst/>
          </a:prstGeom>
          <a:solidFill>
            <a:srgbClr val="F1A205"/>
          </a:solidFill>
          <a:ln>
            <a:noFill/>
          </a:ln>
        </p:spPr>
        <p:txBody>
          <a:bodyPr spcFirstLastPara="1" wrap="square" lIns="47575" tIns="47575" rIns="47575" bIns="47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601195" y="4784692"/>
            <a:ext cx="3597454" cy="219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Scope of solution space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050634" y="4545063"/>
            <a:ext cx="3597454" cy="224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>
                <a:solidFill>
                  <a:schemeClr val="dk1"/>
                </a:solidFill>
              </a:rPr>
              <a:t>Key</a:t>
            </a:r>
            <a:r>
              <a:rPr lang="en-AU" sz="142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data sources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1"/>
          <p:cNvSpPr txBox="1"/>
          <p:nvPr/>
        </p:nvSpPr>
        <p:spPr>
          <a:xfrm>
            <a:off x="143108" y="1387004"/>
            <a:ext cx="4324418" cy="1410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YouTube uses a combination of factors such as the number of views, shares, comments and likes to determine whether a video is ‘Trending’. There could be other slightly indiscernible features identified in the data which could bolster its success rate, which is worth identifying.</a:t>
            </a:r>
          </a:p>
        </p:txBody>
      </p:sp>
      <p:sp>
        <p:nvSpPr>
          <p:cNvPr id="35" name="Google Shape;35;p1"/>
          <p:cNvSpPr txBox="1"/>
          <p:nvPr/>
        </p:nvSpPr>
        <p:spPr>
          <a:xfrm>
            <a:off x="143108" y="3035178"/>
            <a:ext cx="4324418" cy="1349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Objective would be to predict the success criteria of a video based on 1/more of the following parameters: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direct parameters (such as, likes, dislikes, views, number of comments, and number of shares)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Indirect factors include number of tags, Title length, time of upload, etc. </a:t>
            </a:r>
            <a:endParaRPr sz="120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 txBox="1"/>
          <p:nvPr/>
        </p:nvSpPr>
        <p:spPr>
          <a:xfrm>
            <a:off x="186842" y="5137525"/>
            <a:ext cx="4324418" cy="986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This analysis will primarily be restricted to the parameters which is in the control of a YouTuber. The Data from only a single region or set </a:t>
            </a:r>
            <a:r>
              <a:rPr lang="en-US" sz="1200" dirty="0"/>
              <a:t>of select regions will be selected 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"/>
          <p:cNvSpPr txBox="1"/>
          <p:nvPr/>
        </p:nvSpPr>
        <p:spPr>
          <a:xfrm>
            <a:off x="4558232" y="1679241"/>
            <a:ext cx="4324418" cy="1081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7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is available for many regions, thus video title is not necessarily restricted to a single language. </a:t>
            </a:r>
            <a:endParaRPr sz="107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"/>
          <p:cNvSpPr txBox="1"/>
          <p:nvPr/>
        </p:nvSpPr>
        <p:spPr>
          <a:xfrm>
            <a:off x="4590928" y="4800496"/>
            <a:ext cx="4324418" cy="1081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107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Kaggle: </a:t>
            </a:r>
            <a:r>
              <a:rPr lang="en-US" sz="140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zeitung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Trending YouTube Video Statistics</a:t>
            </a:r>
            <a:endParaRPr lang="en-US" sz="1400" i="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zeitung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7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1"/>
          <p:cNvSpPr/>
          <p:nvPr/>
        </p:nvSpPr>
        <p:spPr>
          <a:xfrm>
            <a:off x="8099130" y="707128"/>
            <a:ext cx="432048" cy="205317"/>
          </a:xfrm>
          <a:prstGeom prst="chevron">
            <a:avLst>
              <a:gd name="adj" fmla="val 50000"/>
            </a:avLst>
          </a:prstGeom>
          <a:solidFill>
            <a:schemeClr val="accent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AU" sz="12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1"/>
          <p:cNvSpPr/>
          <p:nvPr/>
        </p:nvSpPr>
        <p:spPr>
          <a:xfrm>
            <a:off x="121750" y="116632"/>
            <a:ext cx="8647038" cy="859808"/>
          </a:xfrm>
          <a:prstGeom prst="wedgeRectCallout">
            <a:avLst>
              <a:gd name="adj1" fmla="val 53513"/>
              <a:gd name="adj2" fmla="val 6588"/>
            </a:avLst>
          </a:prstGeom>
          <a:solidFill>
            <a:srgbClr val="FEF2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"/>
          <p:cNvSpPr txBox="1">
            <a:spLocks noGrp="1"/>
          </p:cNvSpPr>
          <p:nvPr>
            <p:ph type="title"/>
          </p:nvPr>
        </p:nvSpPr>
        <p:spPr>
          <a:xfrm>
            <a:off x="184140" y="189590"/>
            <a:ext cx="879359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AU" sz="2000" dirty="0">
                <a:solidFill>
                  <a:srgbClr val="29748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Problem Statement Worksheet (Hypothesis Formation)</a:t>
            </a:r>
            <a:endParaRPr dirty="0"/>
          </a:p>
        </p:txBody>
      </p:sp>
      <p:sp>
        <p:nvSpPr>
          <p:cNvPr id="47" name="Google Shape;47;p1"/>
          <p:cNvSpPr txBox="1"/>
          <p:nvPr/>
        </p:nvSpPr>
        <p:spPr>
          <a:xfrm>
            <a:off x="4607126" y="3262922"/>
            <a:ext cx="4324418" cy="1081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AU" sz="1071" b="0" i="1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&lt; Not Applicable &gt;</a:t>
            </a:r>
            <a:endParaRPr sz="1400" b="0" i="1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1"/>
          <p:cNvSpPr txBox="1"/>
          <p:nvPr/>
        </p:nvSpPr>
        <p:spPr>
          <a:xfrm>
            <a:off x="184140" y="540901"/>
            <a:ext cx="8584648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Estimating the “success” of a video based on trends identified in the data and additional features</a:t>
            </a:r>
            <a:endParaRPr sz="14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ynergy_CF_YNR002">
  <a:themeElements>
    <a:clrScheme name="Current">
      <a:dk1>
        <a:srgbClr val="002C46"/>
      </a:dk1>
      <a:lt1>
        <a:srgbClr val="FFFFFF"/>
      </a:lt1>
      <a:dk2>
        <a:srgbClr val="FBC14E"/>
      </a:dk2>
      <a:lt2>
        <a:srgbClr val="879C16"/>
      </a:lt2>
      <a:accent1>
        <a:srgbClr val="99AABE"/>
      </a:accent1>
      <a:accent2>
        <a:srgbClr val="406085"/>
      </a:accent2>
      <a:accent3>
        <a:srgbClr val="002C46"/>
      </a:accent3>
      <a:accent4>
        <a:srgbClr val="FBC14E"/>
      </a:accent4>
      <a:accent5>
        <a:srgbClr val="379BBD"/>
      </a:accent5>
      <a:accent6>
        <a:srgbClr val="808080"/>
      </a:accent6>
      <a:hlink>
        <a:srgbClr val="002C46"/>
      </a:hlink>
      <a:folHlink>
        <a:srgbClr val="FBC14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224</Words>
  <Application>Microsoft Office PowerPoint</Application>
  <PresentationFormat>On-screen Show (4:3)</PresentationFormat>
  <Paragraphs>24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Quattrocento Sans</vt:lpstr>
      <vt:lpstr>zeitung</vt:lpstr>
      <vt:lpstr>Synergy_CF_YNR002</vt:lpstr>
      <vt:lpstr>Problem Statement Worksheet (Hypothesis Formation)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Christopher H</dc:creator>
  <cp:lastModifiedBy>Thampi, Rohan</cp:lastModifiedBy>
  <cp:revision>2</cp:revision>
  <dcterms:modified xsi:type="dcterms:W3CDTF">2025-02-02T07:24:04Z</dcterms:modified>
</cp:coreProperties>
</file>